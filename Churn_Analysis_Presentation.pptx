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4" r:id="rId4"/>
    <p:sldId id="258" r:id="rId5"/>
    <p:sldId id="265" r:id="rId6"/>
    <p:sldId id="259" r:id="rId7"/>
    <p:sldId id="260" r:id="rId8"/>
    <p:sldId id="261" r:id="rId9"/>
    <p:sldId id="266" r:id="rId10"/>
    <p:sldId id="267" r:id="rId11"/>
    <p:sldId id="262" r:id="rId12"/>
    <p:sldId id="268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86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1C37-332B-4B2D-C17B-90C4B1236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BA0E0-58DB-3876-21CC-A7BACDB2B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BE322-F31E-52AD-B7C8-B4BD3186C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A151D-AF86-3F74-C030-67DF2EAE4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94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 Communications Ltd,  AnalystLab Africa Data Analytics Internship, Week 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C2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 Peter Thuo Muiruri  |  Junior Data Analyst, AnalystLab Africa Consulting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29538D-E6A2-FCD4-E5B0-75E488F17ADD}"/>
              </a:ext>
            </a:extLst>
          </p:cNvPr>
          <p:cNvSpPr/>
          <p:nvPr/>
        </p:nvSpPr>
        <p:spPr>
          <a:xfrm>
            <a:off x="548640" y="5315803"/>
            <a:ext cx="11094720" cy="10156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does the customer base look like?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2240280"/>
            <a:ext cx="3291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0B0B0"/>
                </a:solidFill>
              </a:rPr>
              <a:t>[ Paste 2-3 sentence summary of the gender, senior citizen, and contract mix charts. State the split, e.g. contract type skew. ]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8CCC67-BAB3-B377-7D74-0C67EE5A9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46" y="1371600"/>
            <a:ext cx="11285334" cy="39442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AC4978-AD03-5AC0-1342-140D20B0ABA6}"/>
              </a:ext>
            </a:extLst>
          </p:cNvPr>
          <p:cNvSpPr txBox="1"/>
          <p:nvPr/>
        </p:nvSpPr>
        <p:spPr>
          <a:xfrm>
            <a:off x="548640" y="5295331"/>
            <a:ext cx="11064239" cy="101566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 is close to a 50/50 split, so it is not a useful churn predictor on its own. Senior citizens make up a small minority of the base, roughly one in six customers. Contract type is heavily skewed toward month-to-month, which matters most since that is the segment with the least switching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095770-EC09-C9ED-C715-A499149A6552}"/>
              </a:ext>
            </a:extLst>
          </p:cNvPr>
          <p:cNvSpPr/>
          <p:nvPr/>
        </p:nvSpPr>
        <p:spPr>
          <a:xfrm>
            <a:off x="7192370" y="1166842"/>
            <a:ext cx="3411940" cy="45243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DB9594-A611-1C0A-CE55-4298B4402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43" y="1275743"/>
            <a:ext cx="5503327" cy="5168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4E505C-B867-031D-6750-13CD44E13594}"/>
              </a:ext>
            </a:extLst>
          </p:cNvPr>
          <p:cNvSpPr txBox="1"/>
          <p:nvPr/>
        </p:nvSpPr>
        <p:spPr>
          <a:xfrm>
            <a:off x="7192370" y="1425869"/>
            <a:ext cx="34119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optic makes up the largest share of the customer base at 44%, ahead of DSL at 34%.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Worth flagging alongside the earlier finding that fiber optic customers also churn the most, so this segment is both the biggest and the riskiest.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16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C2F5137-205B-C4C3-74B3-8C64A0A10DC1}"/>
              </a:ext>
            </a:extLst>
          </p:cNvPr>
          <p:cNvSpPr/>
          <p:nvPr/>
        </p:nvSpPr>
        <p:spPr>
          <a:xfrm>
            <a:off x="838200" y="5215272"/>
            <a:ext cx="10312021" cy="114458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segments have the highest churn?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46720" y="1828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</a:rPr>
              <a:t>Interpretation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817734-7DA7-5202-9322-94B8D827B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20492"/>
            <a:ext cx="10485120" cy="35790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42C1A8-CC90-FA6B-FB3E-507E5B9FD634}"/>
              </a:ext>
            </a:extLst>
          </p:cNvPr>
          <p:cNvSpPr txBox="1"/>
          <p:nvPr/>
        </p:nvSpPr>
        <p:spPr>
          <a:xfrm>
            <a:off x="838200" y="5215272"/>
            <a:ext cx="10485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Gender shows almost no difference in churn rate, confirming it is not a useful segment for retention targeting. Senior citizens churn at a noticeably higher rate than non-seniors, roughly 1.75x, making age a real but partial risk signal worth combining with other variables rather than acting on alone.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0C9EFB-3115-3345-191B-98A7383552A7}"/>
              </a:ext>
            </a:extLst>
          </p:cNvPr>
          <p:cNvSpPr/>
          <p:nvPr/>
        </p:nvSpPr>
        <p:spPr>
          <a:xfrm>
            <a:off x="8461612" y="1573354"/>
            <a:ext cx="2947916" cy="435932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F5A63-54E7-CFAD-0AD6-F249FA530106}"/>
              </a:ext>
            </a:extLst>
          </p:cNvPr>
          <p:cNvSpPr txBox="1"/>
          <p:nvPr/>
        </p:nvSpPr>
        <p:spPr>
          <a:xfrm>
            <a:off x="8461612" y="1631807"/>
            <a:ext cx="311168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no partner and no dependents churn the most, around 34%. 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Having a partner, dependents or both correlates with lower churn, likely because switching providers is a bigger disruption for a household than a single-person account.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CBD358-D596-1364-0C3A-7CFF4BA74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71" y="1307453"/>
            <a:ext cx="7253202" cy="462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46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Does contract type influence retention?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DDF218-33A4-DFA4-7510-52945067D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3034"/>
            <a:ext cx="6646686" cy="42111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F1AEC0E-63D0-7780-32EB-48D04B56BD89}"/>
              </a:ext>
            </a:extLst>
          </p:cNvPr>
          <p:cNvSpPr/>
          <p:nvPr/>
        </p:nvSpPr>
        <p:spPr>
          <a:xfrm>
            <a:off x="7792873" y="1289872"/>
            <a:ext cx="3507474" cy="501675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74B93-98BB-ACBA-6D7E-C31E4337B050}"/>
              </a:ext>
            </a:extLst>
          </p:cNvPr>
          <p:cNvSpPr txBox="1"/>
          <p:nvPr/>
        </p:nvSpPr>
        <p:spPr>
          <a:xfrm>
            <a:off x="7792873" y="1289872"/>
            <a:ext cx="350747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strongest single driver in the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customers churn at a dramatically higher rate than one-year or two-year contract holders, roughly 4x and 15x respectively.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 length acts as a built-in retention mechanism by raising the switching cost, making it the highest-leverage lever available to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Does tenure affect loyalty?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599182-4FA8-0943-E2A2-E9CE2F175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8" y="1166883"/>
            <a:ext cx="11064239" cy="377677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6AE511B-F9F3-6069-7259-7E7991EFDE4D}"/>
              </a:ext>
            </a:extLst>
          </p:cNvPr>
          <p:cNvSpPr/>
          <p:nvPr/>
        </p:nvSpPr>
        <p:spPr>
          <a:xfrm>
            <a:off x="548637" y="4943660"/>
            <a:ext cx="11064239" cy="16072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5002F-A8A1-D80A-5FA7-1C6C55654584}"/>
              </a:ext>
            </a:extLst>
          </p:cNvPr>
          <p:cNvSpPr txBox="1"/>
          <p:nvPr/>
        </p:nvSpPr>
        <p:spPr>
          <a:xfrm>
            <a:off x="548637" y="4943660"/>
            <a:ext cx="110642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Churned customers cluster heavily in the first few months, that is basically where most of the risk lives. Retained customers are all over the place, tenure-wise, with a big chunk of loyal long-timers around the 70-month mark. So, loyalty is not something that builds steadily over time, it is more like: survive the first few months and you are probably sticking around. That makes onboarding and the first 90 days the spot to focus retention effort.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75DA804-9B26-5022-A97D-0A937768B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825159" cy="43522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3CDD0F-5B05-D86E-89E1-00FC931E1094}"/>
              </a:ext>
            </a:extLst>
          </p:cNvPr>
          <p:cNvSpPr/>
          <p:nvPr/>
        </p:nvSpPr>
        <p:spPr>
          <a:xfrm>
            <a:off x="7833815" y="1371600"/>
            <a:ext cx="3411940" cy="440120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64FA20-428E-3023-9828-ECB1EC00856C}"/>
              </a:ext>
            </a:extLst>
          </p:cNvPr>
          <p:cNvSpPr txBox="1"/>
          <p:nvPr/>
        </p:nvSpPr>
        <p:spPr>
          <a:xfrm>
            <a:off x="7833815" y="1371600"/>
            <a:ext cx="34119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median tenure for churned customers sits far lower than for retained ones, with the whole churned box crammed into the lower end of the range.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backs up what the histogram showed, churn is front-loaded onto newer customers rather than spread evenly across account 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66F1F-CBF6-79C1-CF8E-F58BF511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D436EB3-9F36-AF9B-A50A-4F0DDA255BD6}"/>
              </a:ext>
            </a:extLst>
          </p:cNvPr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services influence churn?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CAE2EA-CF16-8405-5FA2-C618C5B39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1371600"/>
            <a:ext cx="11064240" cy="356889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861586D-4070-51BF-393E-D3B7D855284D}"/>
              </a:ext>
            </a:extLst>
          </p:cNvPr>
          <p:cNvSpPr/>
          <p:nvPr/>
        </p:nvSpPr>
        <p:spPr>
          <a:xfrm>
            <a:off x="579120" y="5090615"/>
            <a:ext cx="10898647" cy="10235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9F629-51FD-8558-BAF6-25DB592007B0}"/>
              </a:ext>
            </a:extLst>
          </p:cNvPr>
          <p:cNvSpPr txBox="1"/>
          <p:nvPr/>
        </p:nvSpPr>
        <p:spPr>
          <a:xfrm>
            <a:off x="548640" y="5090615"/>
            <a:ext cx="11094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without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OnlineSecurity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TechSupport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churn about 3x more than those with it;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OnlineBackup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DeviceProtection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 a smaller gap, around 1.8x. Worth pushing these as retention tools, not just upsells.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380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C4CCF-12FB-3893-5D9B-7C9E995DA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05" y="1242144"/>
            <a:ext cx="6360724" cy="43737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98D005-BB24-1D73-C19B-8DB59C013215}"/>
              </a:ext>
            </a:extLst>
          </p:cNvPr>
          <p:cNvSpPr/>
          <p:nvPr/>
        </p:nvSpPr>
        <p:spPr>
          <a:xfrm>
            <a:off x="7806519" y="1242144"/>
            <a:ext cx="3125338" cy="470898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A636A4-8C0E-2383-03B7-765AC5AE98F0}"/>
              </a:ext>
            </a:extLst>
          </p:cNvPr>
          <p:cNvSpPr txBox="1"/>
          <p:nvPr/>
        </p:nvSpPr>
        <p:spPr>
          <a:xfrm>
            <a:off x="7806519" y="1242144"/>
            <a:ext cx="312533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customers make up 61% of all churned customers, way more than their 44% share of the base.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DSL and no-internet customers churn proportionally less. This confirms fiber is the highest-risk segment overall, worth digging into pricing or reliability there.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584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86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Which payment methods have higher churn?</a:t>
            </a:r>
            <a:endParaRPr lang="en-US" sz="2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3748ED-131F-80A0-F311-A3F31406E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54194"/>
            <a:ext cx="6973319" cy="383471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EF59503-E67E-871A-113E-73F1726EEA9F}"/>
              </a:ext>
            </a:extLst>
          </p:cNvPr>
          <p:cNvSpPr/>
          <p:nvPr/>
        </p:nvSpPr>
        <p:spPr>
          <a:xfrm>
            <a:off x="8420669" y="1371600"/>
            <a:ext cx="3070746" cy="501675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4549CC-5D6A-66BF-2FC5-E7776FEF6029}"/>
              </a:ext>
            </a:extLst>
          </p:cNvPr>
          <p:cNvSpPr txBox="1"/>
          <p:nvPr/>
        </p:nvSpPr>
        <p:spPr>
          <a:xfrm>
            <a:off x="8420669" y="1371600"/>
            <a:ext cx="307074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users churn at roughly 3x the rate of automatic payment methods, 45% vs 15-17% for bank transfer or credit card autopay.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Manual, non-automatic billing seems to be a proxy for less committed customers, pushing electronic check payers toward autopay could be a real retention win.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778417-EDB6-E0B0-631B-3AA10EFEF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71" y="895737"/>
            <a:ext cx="6437636" cy="55869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9C317C5-344B-A4C7-A7AC-69D484BB702B}"/>
              </a:ext>
            </a:extLst>
          </p:cNvPr>
          <p:cNvSpPr/>
          <p:nvPr/>
        </p:nvSpPr>
        <p:spPr>
          <a:xfrm>
            <a:off x="7601804" y="890722"/>
            <a:ext cx="3234520" cy="56323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92458-303D-1FF4-2EAE-ACDA67309941}"/>
              </a:ext>
            </a:extLst>
          </p:cNvPr>
          <p:cNvSpPr txBox="1"/>
          <p:nvPr/>
        </p:nvSpPr>
        <p:spPr>
          <a:xfrm>
            <a:off x="7601804" y="890722"/>
            <a:ext cx="32345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Tenure has the strongest relationship with churn, negative, meaning longer-tenured customers are less likely to leave.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shows a weaker positive link, higher bills, somewhat higher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correlates strongly with tenure itself, so it is mostly a byproduct of how long someone has been a customer, not an independent churn driver.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753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9458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What Actions Should Management Take?</a:t>
            </a:r>
            <a:endParaRPr lang="en-US" sz="28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8302" y="1417320"/>
            <a:ext cx="10332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>
              <a:lnSpc>
                <a:spcPct val="200000"/>
              </a:lnSpc>
              <a:buFont typeface="+mj-lt"/>
              <a:buAutoNum type="alphaU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 month-to-month customers toward one/two-year contracts with incentives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lphaU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retention efforts on the first 90 days of tenure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lphaU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OnlineSecurity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TechSupport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or discounted for at-risk segments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lphaU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Investigate fiber optic churn drivers (pricing, reliability, competition)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lphaU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electronic check payers to switch to autopay</a:t>
            </a:r>
            <a:endParaRPr lang="en-US" sz="24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756</Words>
  <Application>Microsoft Office PowerPoint</Application>
  <PresentationFormat>Widescreen</PresentationFormat>
  <Paragraphs>56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joseph jackson</cp:lastModifiedBy>
  <cp:revision>2</cp:revision>
  <dcterms:created xsi:type="dcterms:W3CDTF">2026-08-09T12:54:11Z</dcterms:created>
  <dcterms:modified xsi:type="dcterms:W3CDTF">2026-08-09T14:00:55Z</dcterms:modified>
</cp:coreProperties>
</file>